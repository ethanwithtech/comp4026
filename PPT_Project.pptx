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2"/>
  </p:notesMasterIdLst>
  <p:handoutMasterIdLst>
    <p:handoutMasterId r:id="rId13"/>
  </p:handoutMasterIdLst>
  <p:sldIdLst>
    <p:sldId id="293" r:id="rId2"/>
    <p:sldId id="421" r:id="rId3"/>
    <p:sldId id="428" r:id="rId4"/>
    <p:sldId id="429" r:id="rId5"/>
    <p:sldId id="422" r:id="rId6"/>
    <p:sldId id="423" r:id="rId7"/>
    <p:sldId id="424" r:id="rId8"/>
    <p:sldId id="425" r:id="rId9"/>
    <p:sldId id="427" r:id="rId10"/>
    <p:sldId id="426" r:id="rId11"/>
  </p:sldIdLst>
  <p:sldSz cx="12192000" cy="6858000"/>
  <p:notesSz cx="6669088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D1A823"/>
    <a:srgbClr val="87E587"/>
    <a:srgbClr val="DB8F8F"/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80236" autoAdjust="0"/>
  </p:normalViewPr>
  <p:slideViewPr>
    <p:cSldViewPr>
      <p:cViewPr varScale="1">
        <p:scale>
          <a:sx n="107" d="100"/>
          <a:sy n="107" d="100"/>
        </p:scale>
        <p:origin x="86" y="1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25" d="100"/>
          <a:sy n="125" d="100"/>
        </p:scale>
        <p:origin x="-1158" y="-72"/>
      </p:cViewPr>
      <p:guideLst>
        <p:guide orient="horz" pos="3127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616AE-682A-400C-91AB-37B8FB82C7A2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207BC-78EF-4A75-A093-831761EC0F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150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3CB69-7B81-40B0-AA71-A35C9A8594C0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8" y="744538"/>
            <a:ext cx="661511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19B59-059D-4F08-B97A-40EFC8F961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90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219B59-059D-4F08-B97A-40EFC8F961F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81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1" y="0"/>
            <a:ext cx="12191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355848"/>
            <a:ext cx="107696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828800"/>
            <a:ext cx="107696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altLang="zh-HK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BED7-27C4-4E1C-B63C-5BD2877819C8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082B5-11AC-4C8C-B0CA-E23BC7A1AF8F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12192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744" y="118872"/>
            <a:ext cx="10684256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552" y="1828800"/>
            <a:ext cx="10696448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E677C-1EDB-416E-A01C-3EC9C3A532E7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73936"/>
            <a:ext cx="53848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73936"/>
            <a:ext cx="53848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2F02-ACAA-41C3-A8AA-64DDAE0D895F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98988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698988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495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4F2DA-FE9D-4C18-BC11-84A3FA45E505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C64A6-F252-4DB6-9A52-7BA72BA7DEFB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4961A-54B3-46A4-886A-58686DD563B1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784" y="152400"/>
            <a:ext cx="3364992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5837" y="1743134"/>
            <a:ext cx="7894188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784" y="1730018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9C18-CAC2-4454-813D-5559E35A27F2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5448"/>
            <a:ext cx="3366867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71741" y="1484808"/>
            <a:ext cx="8329863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altLang="zh-HK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" y="1728216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9456" y="1170432"/>
            <a:ext cx="3364992" cy="201168"/>
          </a:xfrm>
        </p:spPr>
        <p:txBody>
          <a:bodyPr/>
          <a:lstStyle/>
          <a:p>
            <a:fld id="{89995831-5A6A-4C1E-AEEC-50B2C178BF32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47744" y="1170432"/>
            <a:ext cx="6925056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19104" y="1170432"/>
            <a:ext cx="978485" cy="20116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717A-C5EB-464E-8D0A-3DA3B1084955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8798560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 bwMode="ltGray">
          <a:xfrm>
            <a:off x="8863584" y="0"/>
            <a:ext cx="33528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41"/>
            <a:ext cx="2540000" cy="5851525"/>
          </a:xfrm>
        </p:spPr>
        <p:txBody>
          <a:bodyPr vert="eaVert"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987E4-976A-4CFE-A345-2A10054D6244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20796" y="6377460"/>
            <a:ext cx="51152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tangle 6"/>
          <p:cNvSpPr/>
          <p:nvPr/>
        </p:nvSpPr>
        <p:spPr bwMode="ltGray">
          <a:xfrm>
            <a:off x="1" y="1"/>
            <a:ext cx="12191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75192"/>
            <a:ext cx="109728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altLang="zh-HK"/>
              <a:t>Click to edit Master text styles</a:t>
            </a:r>
          </a:p>
          <a:p>
            <a:pPr lvl="1" eaLnBrk="1" latinLnBrk="0" hangingPunct="1"/>
            <a:r>
              <a:rPr kumimoji="0" lang="en-US" altLang="zh-HK"/>
              <a:t>Second level</a:t>
            </a:r>
          </a:p>
          <a:p>
            <a:pPr lvl="2" eaLnBrk="1" latinLnBrk="0" hangingPunct="1"/>
            <a:r>
              <a:rPr kumimoji="0" lang="en-US" altLang="zh-HK"/>
              <a:t>Third level</a:t>
            </a:r>
          </a:p>
          <a:p>
            <a:pPr lvl="3" eaLnBrk="1" latinLnBrk="0" hangingPunct="1"/>
            <a:r>
              <a:rPr kumimoji="0" lang="en-US" altLang="zh-HK"/>
              <a:t>Fourth level</a:t>
            </a:r>
          </a:p>
          <a:p>
            <a:pPr lvl="4" eaLnBrk="1" latinLnBrk="0" hangingPunct="1"/>
            <a:r>
              <a:rPr kumimoji="0"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6999"/>
            <a:ext cx="28448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4A925AC-665D-4FF0-9142-7025EBBA4F95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20796" y="6476999"/>
            <a:ext cx="7343625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476999"/>
            <a:ext cx="978485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3093180"/>
          </a:xfrm>
        </p:spPr>
        <p:txBody>
          <a:bodyPr>
            <a:noAutofit/>
          </a:bodyPr>
          <a:lstStyle/>
          <a:p>
            <a:pPr algn="ctr"/>
            <a:b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b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COMP4026</a:t>
            </a:r>
            <a:b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Computer Vision and Pattern Recognition</a:t>
            </a:r>
            <a:b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b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/>
              <a:t>Group Project: </a:t>
            </a:r>
            <a:br>
              <a:rPr lang="en-US" dirty="0"/>
            </a:br>
            <a:r>
              <a:rPr lang="en-HK" dirty="0"/>
              <a:t>Anonymised Facial Expression Recognition</a:t>
            </a:r>
            <a:endParaRPr lang="en-US" sz="3600" dirty="0">
              <a:solidFill>
                <a:schemeClr val="accent1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13372-4BBF-D270-521F-0A730018A1B2}"/>
              </a:ext>
            </a:extLst>
          </p:cNvPr>
          <p:cNvSpPr txBox="1"/>
          <p:nvPr/>
        </p:nvSpPr>
        <p:spPr>
          <a:xfrm>
            <a:off x="152400" y="6292333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270F1-25F4-4644-8442-943DBA4F9E3A}"/>
              </a:ext>
            </a:extLst>
          </p:cNvPr>
          <p:cNvSpPr txBox="1"/>
          <p:nvPr/>
        </p:nvSpPr>
        <p:spPr>
          <a:xfrm>
            <a:off x="0" y="5455057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2000" dirty="0"/>
              <a:t>P C Yuen</a:t>
            </a:r>
          </a:p>
          <a:p>
            <a:pPr algn="ctr"/>
            <a:r>
              <a:rPr lang="en-HK" sz="2000" dirty="0"/>
              <a:t>Department of Computer Science</a:t>
            </a:r>
          </a:p>
          <a:p>
            <a:pPr algn="ctr"/>
            <a:r>
              <a:rPr lang="en-HK" sz="2000" dirty="0"/>
              <a:t>Hong Kong Baptist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4FCD7-1F70-4F9E-B388-E7D320E28C8B}"/>
              </a:ext>
            </a:extLst>
          </p:cNvPr>
          <p:cNvSpPr txBox="1"/>
          <p:nvPr/>
        </p:nvSpPr>
        <p:spPr>
          <a:xfrm>
            <a:off x="0" y="6429493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2</a:t>
            </a:r>
            <a:r>
              <a:rPr lang="en-US" baseline="30000" dirty="0"/>
              <a:t>nd</a:t>
            </a:r>
            <a:r>
              <a:rPr lang="en-US" dirty="0"/>
              <a:t> Semester,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6C182-DC0D-4D14-A16F-AD2867EF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6B844E-C3EC-4083-9D31-0D1C8737D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/>
          <a:p>
            <a:pPr algn="ctr"/>
            <a:r>
              <a:rPr lang="en-US" altLang="zh-CN" sz="4800" dirty="0"/>
              <a:t>Group Project: Goal</a:t>
            </a:r>
            <a:endParaRPr lang="en-HK" sz="4800" i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1DCAD2-A824-4DBE-9FA1-4D80FEE58692}"/>
              </a:ext>
            </a:extLst>
          </p:cNvPr>
          <p:cNvSpPr txBox="1">
            <a:spLocks/>
          </p:cNvSpPr>
          <p:nvPr/>
        </p:nvSpPr>
        <p:spPr>
          <a:xfrm>
            <a:off x="609600" y="1775193"/>
            <a:ext cx="11308080" cy="4701806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lvl1pPr marL="438912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/>
              <a:buChar char="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▪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61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/>
              <a:buChar char="▪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6464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Font typeface="Wingdings 3"/>
              <a:buChar char=""/>
              <a:defRPr kumimoji="0"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buFont typeface="Wingdings" pitchFamily="2" charset="2"/>
              <a:buChar char="Ø"/>
            </a:pPr>
            <a:r>
              <a:rPr lang="en-US" dirty="0"/>
              <a:t>Goal: </a:t>
            </a:r>
            <a:r>
              <a:rPr lang="en-HK" dirty="0"/>
              <a:t>To build a prototype of an anonymised facial expression recognition application.</a:t>
            </a: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HK" dirty="0"/>
              <a:t>The key challenge is to maintain facial expression recognition accuracy while the face images are privacy-protected (anonymised), that is, the original identity of the privacy-protected images should not be authenticated by a machine.</a:t>
            </a:r>
            <a:endParaRPr lang="en-US" dirty="0">
              <a:solidFill>
                <a:srgbClr val="FF0000"/>
              </a:solidFill>
            </a:endParaRPr>
          </a:p>
          <a:p>
            <a:pPr marL="118872" lvl="0" indent="0">
              <a:buNone/>
            </a:pPr>
            <a:endParaRPr lang="en-HK" dirty="0"/>
          </a:p>
          <a:p>
            <a:pPr marL="633222" indent="-514350">
              <a:buFont typeface="+mj-lt"/>
              <a:buAutoNum type="arabicPeriod"/>
            </a:pPr>
            <a:endParaRPr lang="en-HK" sz="2900" dirty="0"/>
          </a:p>
        </p:txBody>
      </p:sp>
    </p:spTree>
    <p:extLst>
      <p:ext uri="{BB962C8B-B14F-4D97-AF65-F5344CB8AC3E}">
        <p14:creationId xmlns:p14="http://schemas.microsoft.com/office/powerpoint/2010/main" val="1068711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7D4D-8095-42BD-8D41-3C69B581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Requirement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EC5C5-EB29-40AF-BA2A-3D6097A1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 descr="A diagram of a model&#10;&#10;AI-generated content may be incorrect.">
            <a:extLst>
              <a:ext uri="{FF2B5EF4-FFF2-40B4-BE49-F238E27FC236}">
                <a16:creationId xmlns:a16="http://schemas.microsoft.com/office/drawing/2014/main" id="{64533B77-D769-4D12-8E3C-F6FBEE6F1C8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94" y="1707279"/>
            <a:ext cx="9330005" cy="504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CCB6-81F5-4215-9902-13A1B2AD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HK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61983-28AF-45C9-8A6F-91319F99F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HK" dirty="0"/>
              <a:t>Face Recognition Metrics (Privacy)</a:t>
            </a:r>
          </a:p>
          <a:p>
            <a:pPr lvl="1"/>
            <a:r>
              <a:rPr lang="en-HK" dirty="0"/>
              <a:t> </a:t>
            </a:r>
            <a:r>
              <a:rPr lang="en-HK" b="1" dirty="0"/>
              <a:t>Accuracy</a:t>
            </a:r>
            <a:r>
              <a:rPr lang="en-HK" dirty="0"/>
              <a:t> on original test set — validates the reliability of the ID classifier.</a:t>
            </a:r>
          </a:p>
          <a:p>
            <a:pPr lvl="1"/>
            <a:r>
              <a:rPr lang="en-HK" dirty="0"/>
              <a:t> </a:t>
            </a:r>
            <a:r>
              <a:rPr lang="en-HK" b="1" dirty="0"/>
              <a:t>Accuracy</a:t>
            </a:r>
            <a:r>
              <a:rPr lang="en-HK" dirty="0"/>
              <a:t> on anonymised Images — evaluate the anonymisation strength.</a:t>
            </a:r>
          </a:p>
          <a:p>
            <a:pPr marL="457200" lvl="1" indent="0">
              <a:buNone/>
            </a:pPr>
            <a:endParaRPr lang="en-HK" dirty="0"/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Expression Preservation Metrics (Utility)</a:t>
            </a:r>
          </a:p>
          <a:p>
            <a:pPr lvl="1"/>
            <a:r>
              <a:rPr lang="en-HK" dirty="0"/>
              <a:t> </a:t>
            </a:r>
            <a:r>
              <a:rPr lang="en-HK" b="1" dirty="0"/>
              <a:t>Expression Consistency Rate</a:t>
            </a:r>
            <a:r>
              <a:rPr lang="en-HK" dirty="0"/>
              <a:t> — percentage of images with unchanged expression.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4B904-2226-42A4-ADF7-6EEC6FD0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8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348B-91B5-7D8E-E4C1-CAC553DC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4400" dirty="0"/>
              <a:t>Group Project: Evaluation Criteria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F3D2-55FA-859D-BD9E-172655E7D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22791"/>
            <a:ext cx="11308080" cy="4854208"/>
          </a:xfrm>
        </p:spPr>
        <p:txBody>
          <a:bodyPr>
            <a:normAutofit fontScale="77500" lnSpcReduction="2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Understanding of the Task</a:t>
            </a:r>
            <a:r>
              <a:rPr lang="en-HK" dirty="0"/>
              <a:t>: Clear explanation of the purpose of the project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Methodology</a:t>
            </a:r>
            <a:r>
              <a:rPr lang="en-HK" dirty="0"/>
              <a:t>: Justifications for the tools, methods, and models used for both real and synthetic image training.</a:t>
            </a:r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endParaRPr lang="en-HK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Implementation and Compar</a:t>
            </a:r>
            <a:r>
              <a:rPr lang="en-HK" dirty="0"/>
              <a:t>ison: Proper training, testing, and comparison of models.</a:t>
            </a:r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endParaRPr lang="en-HK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Efforts and Contributions</a:t>
            </a:r>
            <a:r>
              <a:rPr lang="en-HK" dirty="0"/>
              <a:t>: Demonstrated effort in generating synthetic data and analysing results.</a:t>
            </a:r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endParaRPr lang="en-HK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Presentation and Report Quality</a:t>
            </a:r>
            <a:r>
              <a:rPr lang="en-HK" dirty="0"/>
              <a:t>: Clarity and completeness of the final presentation and report.</a:t>
            </a:r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endParaRPr lang="en-HK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Teamwork</a:t>
            </a:r>
            <a:endParaRPr lang="en-HK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C82FB-855E-F12F-8F18-2B27C477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45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2A53C-F62D-160B-4FEA-3DC6320E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Group Project: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BDA6-99F1-F402-AC4A-F5D595165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29783"/>
            <a:ext cx="10972800" cy="4625609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en-US" b="1" dirty="0"/>
              <a:t>Assessment*</a:t>
            </a:r>
            <a:endParaRPr lang="en-HK" sz="2800" dirty="0"/>
          </a:p>
          <a:p>
            <a:pPr marL="118872" indent="0">
              <a:buNone/>
            </a:pPr>
            <a:r>
              <a:rPr lang="en-US" b="1" dirty="0"/>
              <a:t> </a:t>
            </a:r>
            <a:endParaRPr lang="en-HK" sz="2800" dirty="0"/>
          </a:p>
          <a:p>
            <a:pPr lvl="0">
              <a:buFont typeface="Wingdings" pitchFamily="2" charset="2"/>
              <a:buChar char="Ø"/>
            </a:pPr>
            <a:r>
              <a:rPr lang="en-US" dirty="0"/>
              <a:t>Proposal								20%</a:t>
            </a:r>
            <a:endParaRPr lang="en-HK" dirty="0"/>
          </a:p>
          <a:p>
            <a:pPr lvl="0">
              <a:buFont typeface="Wingdings" pitchFamily="2" charset="2"/>
              <a:buChar char="Ø"/>
            </a:pPr>
            <a:r>
              <a:rPr lang="en-US" dirty="0"/>
              <a:t>Presentation and demonstration (including Q&amp;A)	40%</a:t>
            </a:r>
            <a:endParaRPr lang="en-HK" dirty="0"/>
          </a:p>
          <a:p>
            <a:pPr lvl="0">
              <a:buFont typeface="Wingdings" pitchFamily="2" charset="2"/>
              <a:buChar char="Ø"/>
            </a:pPr>
            <a:r>
              <a:rPr lang="en-US" dirty="0"/>
              <a:t>Project report (including results)				40%</a:t>
            </a:r>
            <a:endParaRPr lang="en-HK" dirty="0"/>
          </a:p>
          <a:p>
            <a:pPr lvl="1"/>
            <a:r>
              <a:rPr lang="en-US"/>
              <a:t>Max 15 </a:t>
            </a:r>
            <a:r>
              <a:rPr lang="en-US" dirty="0"/>
              <a:t>pages (double spacing), including figures, tables and references.</a:t>
            </a:r>
            <a:endParaRPr lang="en-HK" dirty="0"/>
          </a:p>
          <a:p>
            <a:pPr lvl="1"/>
            <a:r>
              <a:rPr lang="en-US" dirty="0"/>
              <a:t>You may submit supplementary materials, if needed</a:t>
            </a:r>
            <a:endParaRPr lang="en-HK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5D4BC-CDB8-6E92-3459-6AF7D7B3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8DAD8-AAEB-5D3F-AA0E-3E89A1002CA2}"/>
              </a:ext>
            </a:extLst>
          </p:cNvPr>
          <p:cNvSpPr txBox="1"/>
          <p:nvPr/>
        </p:nvSpPr>
        <p:spPr>
          <a:xfrm>
            <a:off x="0" y="6207723"/>
            <a:ext cx="6133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</a:t>
            </a:r>
            <a:r>
              <a:rPr lang="en-HK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Late submission policy: 10% deduction per day</a:t>
            </a:r>
            <a:endParaRPr lang="en-HK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73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E07A-7E39-9C47-EF25-CBEEEA0F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Group Project: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DB4FA-44C5-6664-3AF2-0DC30263D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1201400" cy="5151119"/>
          </a:xfrm>
        </p:spPr>
        <p:txBody>
          <a:bodyPr>
            <a:normAutofit fontScale="77500" lnSpcReduction="2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24 January 2026</a:t>
            </a:r>
            <a:r>
              <a:rPr lang="en-HK" dirty="0"/>
              <a:t> </a:t>
            </a:r>
            <a:r>
              <a:rPr lang="en-HK" i="1" dirty="0"/>
              <a:t>(5% deduction for late submission)</a:t>
            </a:r>
            <a:endParaRPr lang="en-HK" sz="2800" dirty="0"/>
          </a:p>
          <a:p>
            <a:pPr lvl="1"/>
            <a:r>
              <a:rPr lang="en-HK" dirty="0"/>
              <a:t>Submit group member list on Moodle.</a:t>
            </a:r>
            <a:endParaRPr lang="en-HK" sz="2400" dirty="0"/>
          </a:p>
          <a:p>
            <a:pPr lvl="0"/>
            <a:endParaRPr lang="en-HK" b="1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10 February 2026</a:t>
            </a:r>
            <a:endParaRPr lang="en-HK" sz="2800" dirty="0"/>
          </a:p>
          <a:p>
            <a:pPr lvl="1"/>
            <a:r>
              <a:rPr lang="en-HK" dirty="0"/>
              <a:t>Project announcement.</a:t>
            </a:r>
            <a:endParaRPr lang="en-HK" sz="2400" dirty="0"/>
          </a:p>
          <a:p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17 March 2026</a:t>
            </a:r>
            <a:r>
              <a:rPr lang="en-HK" i="1" dirty="0"/>
              <a:t>(20%)</a:t>
            </a:r>
            <a:endParaRPr lang="en-HK" sz="2800" dirty="0"/>
          </a:p>
          <a:p>
            <a:pPr lvl="1"/>
            <a:r>
              <a:rPr lang="en-HK" dirty="0"/>
              <a:t>Submit a project proposal, including preliminary studies, methodology rationale, and initial design on Moodle.</a:t>
            </a:r>
            <a:endParaRPr lang="en-HK" sz="2400" dirty="0"/>
          </a:p>
          <a:p>
            <a:pPr marL="118872" indent="0">
              <a:buNone/>
            </a:pPr>
            <a:r>
              <a:rPr lang="en-HK" dirty="0"/>
              <a:t> </a:t>
            </a:r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20/21 April 2026</a:t>
            </a:r>
            <a:r>
              <a:rPr lang="en-HK" dirty="0"/>
              <a:t> </a:t>
            </a:r>
            <a:r>
              <a:rPr lang="en-HK" i="1" dirty="0"/>
              <a:t>(40%)</a:t>
            </a:r>
            <a:endParaRPr lang="en-HK" sz="2800" dirty="0"/>
          </a:p>
          <a:p>
            <a:pPr lvl="1"/>
            <a:r>
              <a:rPr lang="en-HK" dirty="0"/>
              <a:t>15-min presentation and demonstration. [All group members are required to present their responsible part(s)]</a:t>
            </a:r>
            <a:endParaRPr lang="en-HK" sz="2400" dirty="0"/>
          </a:p>
          <a:p>
            <a:pPr marL="118872" indent="0">
              <a:buNone/>
            </a:pPr>
            <a:r>
              <a:rPr lang="en-HK" dirty="0"/>
              <a:t> </a:t>
            </a:r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HK" b="1" dirty="0"/>
              <a:t>30 April 2026</a:t>
            </a:r>
            <a:r>
              <a:rPr lang="en-HK" dirty="0"/>
              <a:t> </a:t>
            </a:r>
            <a:r>
              <a:rPr lang="en-HK" i="1" dirty="0"/>
              <a:t>(40%)</a:t>
            </a:r>
            <a:endParaRPr lang="en-HK" sz="2800" dirty="0"/>
          </a:p>
          <a:p>
            <a:pPr lvl="1"/>
            <a:r>
              <a:rPr lang="en-HK" dirty="0"/>
              <a:t>Submit final report with presentation slides and programme source code on Moodle.</a:t>
            </a:r>
            <a:endParaRPr lang="en-HK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12444-C6F0-6415-924E-3CD8858A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24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7539-13A7-3AA4-E08A-6A9CE8F1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Group Project: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A2D0-7921-53EC-389B-36BB2F371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0"/>
            <a:ext cx="11308080" cy="4625609"/>
          </a:xfrm>
        </p:spPr>
        <p:txBody>
          <a:bodyPr>
            <a:noAutofit/>
          </a:bodyPr>
          <a:lstStyle/>
          <a:p>
            <a:pPr marL="118872" indent="0">
              <a:buNone/>
            </a:pPr>
            <a:r>
              <a:rPr lang="en-US" sz="2800" dirty="0"/>
              <a:t>Each group must submit the following </a:t>
            </a:r>
            <a:r>
              <a:rPr lang="en-US" sz="2800" b="1" dirty="0"/>
              <a:t>on Moodle</a:t>
            </a:r>
            <a:r>
              <a:rPr lang="en-US" sz="2800" dirty="0"/>
              <a:t>.</a:t>
            </a:r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dirty="0"/>
              <a:t>A project proposal with at most 1000 words, and 10 pages</a:t>
            </a:r>
            <a:r>
              <a:rPr lang="en-US" sz="2800" dirty="0"/>
              <a:t>, including figures, tables and references, in pdf format. Name your document with group number and last name of group members, e.g. Group1_Proposal_Wong_Chan_Lee.pdf</a:t>
            </a:r>
            <a:endParaRPr lang="en-HK" sz="2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dirty="0"/>
              <a:t>A written final report in pdf format with at most 3000 words and 15 pages</a:t>
            </a:r>
            <a:r>
              <a:rPr lang="en-US" sz="2800" dirty="0"/>
              <a:t>, including figures, tables and references. Same naming convention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dirty="0"/>
              <a:t>Your presentation materials</a:t>
            </a:r>
            <a:r>
              <a:rPr lang="en-US" sz="2800" dirty="0"/>
              <a:t>. Same naming convention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800" b="1" dirty="0"/>
              <a:t>Your source codes</a:t>
            </a:r>
            <a:r>
              <a:rPr lang="en-US" sz="2800" dirty="0"/>
              <a:t>. Same naming convention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118872" lvl="0" indent="0">
              <a:buNone/>
            </a:pPr>
            <a:r>
              <a:rPr lang="en-US" sz="2800" dirty="0"/>
              <a:t>*An overlength proposal/report will be subject to a penalty.</a:t>
            </a:r>
            <a:endParaRPr lang="en-HK" sz="2800" dirty="0"/>
          </a:p>
          <a:p>
            <a:pPr marL="118872" lvl="0" indent="0">
              <a:buNone/>
            </a:pP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A4376-9918-5B02-B6D5-7A68F8513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589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1617-0FBC-A43D-6A75-0414114D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Group Project: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8A9B6-21C1-CBE4-6445-316B1980E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Declare the responsibility of each member during the presentation and in the report. Questions will be asked to a specific member who is responsible for</a:t>
            </a:r>
          </a:p>
          <a:p>
            <a:pPr lvl="0"/>
            <a:endParaRPr lang="en-HK" dirty="0"/>
          </a:p>
          <a:p>
            <a:pPr lvl="0"/>
            <a:r>
              <a:rPr lang="en-US" dirty="0"/>
              <a:t>Each member needs to present his/her part during the project presentation. Zero marks for no show.</a:t>
            </a:r>
            <a:endParaRPr lang="en-HK" dirty="0"/>
          </a:p>
          <a:p>
            <a:pPr lvl="0"/>
            <a:endParaRPr lang="en-US" dirty="0"/>
          </a:p>
          <a:p>
            <a:pPr lvl="0"/>
            <a:r>
              <a:rPr lang="en-US" dirty="0"/>
              <a:t>Include a section “GenAI Usage Disclosure” and declare the use of third-party resources.</a:t>
            </a:r>
            <a:endParaRPr lang="en-HK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53B16-56A7-B4B0-F553-70BE05D3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68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D8FA-07B8-B313-0726-1F1CF6B4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5937-6499-F099-C438-DF22A53F0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8872" indent="0" algn="ctr">
              <a:buNone/>
            </a:pPr>
            <a:endParaRPr lang="en-US" dirty="0"/>
          </a:p>
          <a:p>
            <a:pPr marL="118872" indent="0" algn="ctr">
              <a:buNone/>
            </a:pPr>
            <a:endParaRPr lang="en-US" dirty="0"/>
          </a:p>
          <a:p>
            <a:pPr marL="118872" indent="0" algn="ctr">
              <a:buNone/>
            </a:pPr>
            <a:endParaRPr lang="en-US" dirty="0"/>
          </a:p>
          <a:p>
            <a:pPr marL="118872" indent="0" algn="ctr">
              <a:buNone/>
            </a:pPr>
            <a:r>
              <a:rPr lang="en-US" sz="3600" b="1" dirty="0"/>
              <a:t>Questions??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502CF-00C7-9DB2-5C6D-56EF491E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57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113877</TotalTime>
  <Words>593</Words>
  <Application>Microsoft Office PowerPoint</Application>
  <PresentationFormat>Widescreen</PresentationFormat>
  <Paragraphs>83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新細明體</vt:lpstr>
      <vt:lpstr>华文楷体</vt:lpstr>
      <vt:lpstr>Arial</vt:lpstr>
      <vt:lpstr>Calibri</vt:lpstr>
      <vt:lpstr>Corbel</vt:lpstr>
      <vt:lpstr>Times New Roman</vt:lpstr>
      <vt:lpstr>Wingdings</vt:lpstr>
      <vt:lpstr>Wingdings 2</vt:lpstr>
      <vt:lpstr>Wingdings 3</vt:lpstr>
      <vt:lpstr>Module</vt:lpstr>
      <vt:lpstr>  COMP4026 Computer Vision and Pattern Recognition  Group Project:  Anonymised Facial Expression Recognition</vt:lpstr>
      <vt:lpstr>Group Project: Goal</vt:lpstr>
      <vt:lpstr>Requirement</vt:lpstr>
      <vt:lpstr>Evaluation Metrics</vt:lpstr>
      <vt:lpstr>Group Project: Evaluation Criteria</vt:lpstr>
      <vt:lpstr>Group Project: Assessment</vt:lpstr>
      <vt:lpstr>Group Project: Timeline</vt:lpstr>
      <vt:lpstr>Group Project: Submission</vt:lpstr>
      <vt:lpstr>Group Project: Note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Prblem1</dc:title>
  <dc:creator>jhma</dc:creator>
  <cp:lastModifiedBy>Pong Chi YUEN</cp:lastModifiedBy>
  <cp:revision>4149</cp:revision>
  <cp:lastPrinted>2013-07-04T13:13:09Z</cp:lastPrinted>
  <dcterms:created xsi:type="dcterms:W3CDTF">2006-08-16T00:00:00Z</dcterms:created>
  <dcterms:modified xsi:type="dcterms:W3CDTF">2026-02-10T07:16:37Z</dcterms:modified>
</cp:coreProperties>
</file>